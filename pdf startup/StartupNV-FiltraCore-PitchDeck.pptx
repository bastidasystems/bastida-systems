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463040"/>
            <a:ext cx="5212080" cy="5212080"/>
          </a:xfrm>
          <a:prstGeom prst="ellipse">
            <a:avLst/>
          </a:prstGeom>
          <a:solidFill>
            <a:srgbClr val="D9FBEA">
              <a:alpha val="82000"/>
            </a:srgbClr>
          </a:solidFill>
          <a:ln w="12700">
            <a:solidFill>
              <a:srgbClr val="D9FB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2651760" cy="2651760"/>
          </a:xfrm>
          <a:prstGeom prst="ellipse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pic>
        <p:nvPicPr>
          <p:cNvPr id="4" name="Image 0" descr="/Users/davidbastida/Bastida_Systems MKT/pdf startup/StartupNV-FiltraCore-Screenshots/product-assets/LOGO_FILTRACOREX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9377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0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Bastida Systems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94360" y="1024128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115568"/>
            <a:ext cx="1645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2104" y="10561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STARTUPNV PITCH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41732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FiltraCore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621792" y="2212848"/>
            <a:ext cx="4206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Filter Management Platform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30936" y="2606040"/>
            <a:ext cx="28346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Vegas, Nevada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0936" y="3090672"/>
            <a:ext cx="4160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capa SaaS para monitorear condición, PSI, historial y alertas de filtros en operaciones críticas.</a:t>
            </a:r>
            <a:endParaRPr lang="en-US" sz="1340" dirty="0"/>
          </a:p>
        </p:txBody>
      </p:sp>
      <p:sp>
        <p:nvSpPr>
          <p:cNvPr id="13" name="Shape 10"/>
          <p:cNvSpPr/>
          <p:nvPr/>
        </p:nvSpPr>
        <p:spPr>
          <a:xfrm>
            <a:off x="621792" y="4078224"/>
            <a:ext cx="1207008" cy="292608"/>
          </a:xfrm>
          <a:prstGeom prst="roundRect">
            <a:avLst>
              <a:gd name="adj" fmla="val 25000"/>
            </a:avLst>
          </a:prstGeom>
          <a:solidFill>
            <a:srgbClr val="10B981">
              <a:alpha val="12000"/>
            </a:srgbClr>
          </a:solidFill>
          <a:ln w="889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414223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quality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938528" y="4078224"/>
            <a:ext cx="987552" cy="292608"/>
          </a:xfrm>
          <a:prstGeom prst="roundRect">
            <a:avLst>
              <a:gd name="adj" fmla="val 25000"/>
            </a:avLst>
          </a:prstGeom>
          <a:solidFill>
            <a:srgbClr val="2563EB">
              <a:alpha val="12000"/>
            </a:srgbClr>
          </a:solidFill>
          <a:ln w="889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11680" y="41422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risk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054096" y="4078224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F59E0B">
              <a:alpha val="12000"/>
            </a:srgbClr>
          </a:solidFill>
          <a:ln w="889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27248" y="414223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evidence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166360" y="868680"/>
            <a:ext cx="5074920" cy="3163824"/>
          </a:xfrm>
          <a:prstGeom prst="roundRect">
            <a:avLst>
              <a:gd name="adj" fmla="val 2890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94A3B8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257800" y="960120"/>
            <a:ext cx="4892040" cy="2980944"/>
          </a:xfrm>
          <a:prstGeom prst="roundRect">
            <a:avLst>
              <a:gd name="adj" fmla="val 2454"/>
            </a:avLst>
          </a:prstGeom>
          <a:solidFill>
            <a:srgbClr val="EEF4F8"/>
          </a:solidFill>
          <a:ln w="6350">
            <a:solidFill>
              <a:srgbClr val="E5EDF3"/>
            </a:solidFill>
            <a:prstDash val="solid"/>
          </a:ln>
        </p:spPr>
      </p:sp>
      <p:pic>
        <p:nvPicPr>
          <p:cNvPr id="21" name="Image 1" descr="/Users/davidbastida/Bastida_Systems MKT/pdf startup/StartupNV-FiltraCore-Screenshots/product-assets/print-dash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1233509"/>
            <a:ext cx="4818888" cy="243416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9564624" y="2395728"/>
            <a:ext cx="1243584" cy="2697480"/>
          </a:xfrm>
          <a:prstGeom prst="roundRect">
            <a:avLst>
              <a:gd name="adj" fmla="val 16176"/>
            </a:avLst>
          </a:prstGeom>
          <a:solidFill>
            <a:srgbClr val="0F172A"/>
          </a:solidFill>
          <a:ln w="10160">
            <a:solidFill>
              <a:srgbClr val="0B1220"/>
            </a:solidFill>
            <a:prstDash val="solid"/>
          </a:ln>
          <a:effectLst>
            <a:outerShdw sx="100000" sy="100000" kx="0" ky="0" algn="bl" rotWithShape="0" blurRad="20320" dist="50800" dir="2700000">
              <a:srgbClr val="0F172A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664111" y="2530602"/>
            <a:ext cx="1044611" cy="2427732"/>
          </a:xfrm>
          <a:prstGeom prst="roundRect">
            <a:avLst>
              <a:gd name="adj" fmla="val 12255"/>
            </a:avLst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pic>
        <p:nvPicPr>
          <p:cNvPr id="24" name="Image 2" descr="/Users/davidbastida/Bastida_Systems MKT/pdf startup/StartupNV-FiltraCore-Screenshots/product-assets/mobile-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418" y="2690125"/>
            <a:ext cx="969996" cy="210868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248656" y="4864608"/>
            <a:ext cx="12344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394960" y="5020056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PSI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5394960" y="5358384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Presión y condición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6656832" y="4864608"/>
            <a:ext cx="144475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803136" y="5020056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Alerts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6803136" y="535838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preventivo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8284464" y="4864608"/>
            <a:ext cx="1554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430768" y="502005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History</a:t>
            </a:r>
            <a:endParaRPr lang="en-US" sz="1800" dirty="0"/>
          </a:p>
        </p:txBody>
      </p:sp>
      <p:sp>
        <p:nvSpPr>
          <p:cNvPr id="33" name="Text 28"/>
          <p:cNvSpPr/>
          <p:nvPr/>
        </p:nvSpPr>
        <p:spPr>
          <a:xfrm>
            <a:off x="8430768" y="535838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auditable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bastidasystems.com/filtracore.html, capturado el 2026-06-01.</a:t>
            </a:r>
            <a:endParaRPr lang="en-US" sz="590" dirty="0"/>
          </a:p>
        </p:txBody>
      </p:sp>
      <p:sp>
        <p:nvSpPr>
          <p:cNvPr id="35" name="Text 30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36" name="Shape 31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75488"/>
            <a:ext cx="1645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4160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Miles de filtros trabajan todos los días sin un sistema de control.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2240280"/>
            <a:ext cx="4480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casinos, hospitales, restaurantes, hoteles y edificios comerciales, el mantenimiento sigue viviendo en hojas, notas, mensajes y memoria del equipo.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3218688"/>
            <a:ext cx="1060704" cy="292608"/>
          </a:xfrm>
          <a:prstGeom prst="roundRect">
            <a:avLst>
              <a:gd name="adj" fmla="val 25000"/>
            </a:avLst>
          </a:prstGeom>
          <a:solidFill>
            <a:srgbClr val="10B981">
              <a:alpha val="10000"/>
            </a:srgbClr>
          </a:solidFill>
          <a:ln w="889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2826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Casinos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37944" y="3218688"/>
            <a:ext cx="1060704" cy="292608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 w="889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11096" y="32826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54096" y="3218688"/>
            <a:ext cx="1060704" cy="292608"/>
          </a:xfrm>
          <a:prstGeom prst="roundRect">
            <a:avLst>
              <a:gd name="adj" fmla="val 25000"/>
            </a:avLst>
          </a:prstGeom>
          <a:solidFill>
            <a:srgbClr val="667085">
              <a:alpha val="10000"/>
            </a:srgbClr>
          </a:solidFill>
          <a:ln w="8890">
            <a:solidFill>
              <a:srgbClr val="667085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32826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" y="3657600"/>
            <a:ext cx="1060704" cy="292608"/>
          </a:xfrm>
          <a:prstGeom prst="roundRect">
            <a:avLst>
              <a:gd name="adj" fmla="val 25000"/>
            </a:avLst>
          </a:prstGeom>
          <a:solidFill>
            <a:srgbClr val="667085">
              <a:alpha val="10000"/>
            </a:srgbClr>
          </a:solidFill>
          <a:ln w="8890">
            <a:solidFill>
              <a:srgbClr val="66708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7216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37944" y="3657600"/>
            <a:ext cx="1060704" cy="292608"/>
          </a:xfrm>
          <a:prstGeom prst="roundRect">
            <a:avLst>
              <a:gd name="adj" fmla="val 25000"/>
            </a:avLst>
          </a:prstGeom>
          <a:solidFill>
            <a:srgbClr val="667085">
              <a:alpha val="10000"/>
            </a:srgbClr>
          </a:solidFill>
          <a:ln w="8890">
            <a:solidFill>
              <a:srgbClr val="667085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11096" y="37216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Comercial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80760" y="768096"/>
            <a:ext cx="5349240" cy="5010912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19050" dist="50800" dir="2700000">
              <a:srgbClr val="94A3B8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82512" y="1051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Modo actual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46520" y="1536192"/>
            <a:ext cx="4041648" cy="58521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D9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165506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manual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8065008" y="1655064"/>
            <a:ext cx="2322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personal y handoffs débiles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6519672" y="2377440"/>
            <a:ext cx="4041648" cy="585216"/>
          </a:xfrm>
          <a:prstGeom prst="roundRect">
            <a:avLst>
              <a:gd name="adj" fmla="val 12500"/>
            </a:avLst>
          </a:prstGeom>
          <a:solidFill>
            <a:srgbClr val="ECFEFF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24963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8138160" y="2496312"/>
            <a:ext cx="2322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alertas ni evidencia viva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6592824" y="3218688"/>
            <a:ext cx="4041648" cy="58521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D9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333756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historial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8211312" y="3337560"/>
            <a:ext cx="2322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difícil de auditar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6665976" y="4059936"/>
            <a:ext cx="4041648" cy="58521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D9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41788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trazabilidad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8284464" y="4178808"/>
            <a:ext cx="2322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humanos invisibles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6675120" y="4956048"/>
            <a:ext cx="3520440" cy="384048"/>
          </a:xfrm>
          <a:prstGeom prst="chevron">
            <a:avLst/>
          </a:prstGeom>
          <a:solidFill>
            <a:srgbClr val="EF4444">
              <a:alpha val="93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13448" y="5065776"/>
            <a:ext cx="2816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alertas tardías, costos reactivos y evidencia incompleta.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76656" y="4823460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4773168"/>
            <a:ext cx="4005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de alertas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76656" y="512521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" y="5074920"/>
            <a:ext cx="4005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de historial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76656" y="5426964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5376672"/>
            <a:ext cx="4005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de trazabilidad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676656" y="5728716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5678424"/>
            <a:ext cx="4005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humanos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Bastida Systems FiltraCore website; research publico citado en resumen ejecutivo.</a:t>
            </a:r>
            <a:endParaRPr lang="en-US" sz="590" dirty="0"/>
          </a:p>
        </p:txBody>
      </p:sp>
      <p:sp>
        <p:nvSpPr>
          <p:cNvPr id="42" name="Text 40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75488"/>
            <a:ext cx="164592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4160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 OPERATIVOS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5715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filtro vencido convierte una señal pequeña en una cadena de costos.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04672" y="2267712"/>
            <a:ext cx="1225296" cy="1225296"/>
          </a:xfrm>
          <a:prstGeom prst="ellipse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57860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75488" y="37033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 vencido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03120" y="2880360"/>
            <a:ext cx="1161288" cy="0"/>
          </a:xfrm>
          <a:prstGeom prst="line">
            <a:avLst/>
          </a:prstGeom>
          <a:noFill/>
          <a:ln w="15240">
            <a:solidFill>
              <a:srgbClr val="BCCCD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56432" y="2267712"/>
            <a:ext cx="1225296" cy="1225296"/>
          </a:xfrm>
          <a:prstGeom prst="ellipse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257860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127248" y="37033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Aire / agua comprometidos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880360"/>
            <a:ext cx="1161288" cy="0"/>
          </a:xfrm>
          <a:prstGeom prst="line">
            <a:avLst/>
          </a:prstGeom>
          <a:noFill/>
          <a:ln w="15240">
            <a:solidFill>
              <a:srgbClr val="BCCCD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08192" y="2267712"/>
            <a:ext cx="1225296" cy="1225296"/>
          </a:xfrm>
          <a:prstGeom prst="ellipse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257860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779008" y="37033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 bajo estrés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06640" y="2880360"/>
            <a:ext cx="1161288" cy="0"/>
          </a:xfrm>
          <a:prstGeom prst="line">
            <a:avLst/>
          </a:prstGeom>
          <a:noFill/>
          <a:ln w="15240">
            <a:solidFill>
              <a:srgbClr val="BCCCD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59952" y="2267712"/>
            <a:ext cx="1225296" cy="1225296"/>
          </a:xfrm>
          <a:prstGeom prst="ellipse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257860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430768" y="37033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inesperado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" y="4617720"/>
            <a:ext cx="10497312" cy="1051560"/>
          </a:xfrm>
          <a:prstGeom prst="roundRect">
            <a:avLst>
              <a:gd name="adj" fmla="val 10435"/>
            </a:avLst>
          </a:prstGeom>
          <a:solidFill>
            <a:srgbClr val="F1F5F9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" y="4873752"/>
            <a:ext cx="100584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4809744"/>
            <a:ext cx="15179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Filtros vencidos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971800" y="4873752"/>
            <a:ext cx="10058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4809744"/>
            <a:ext cx="15179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Aire contaminado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919472" y="4873752"/>
            <a:ext cx="100584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4809744"/>
            <a:ext cx="15179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 calidad del agua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867144" y="4873752"/>
            <a:ext cx="10058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0024" y="4809744"/>
            <a:ext cx="15179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Equipos dañados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814816" y="4873752"/>
            <a:ext cx="100584" cy="347472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97696" y="4809744"/>
            <a:ext cx="15179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Costos inesperados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804672" y="5833872"/>
            <a:ext cx="10497312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5929884"/>
            <a:ext cx="10204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FiltraCore prioriza señales operativas que normalmente aparecen tarde: presión, vida útil, historial y alertas.</a:t>
            </a:r>
            <a:endParaRPr lang="en-US" sz="640" dirty="0"/>
          </a:p>
        </p:txBody>
      </p:sp>
      <p:sp>
        <p:nvSpPr>
          <p:cNvPr id="34" name="Text 32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Bastida Systems FiltraCore website; research publico citado en resumen ejecutivo.</a:t>
            </a:r>
            <a:endParaRPr lang="en-US" sz="590" dirty="0"/>
          </a:p>
        </p:txBody>
      </p:sp>
      <p:sp>
        <p:nvSpPr>
          <p:cNvPr id="35" name="Text 33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3566160"/>
            <a:ext cx="3200400" cy="3200400"/>
          </a:xfrm>
          <a:prstGeom prst="ellipse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1280160"/>
            <a:ext cx="4389120" cy="4389120"/>
          </a:xfrm>
          <a:prstGeom prst="ellipse">
            <a:avLst/>
          </a:prstGeom>
          <a:solidFill>
            <a:srgbClr val="10B981">
              <a:alpha val="14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438912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30352"/>
            <a:ext cx="1645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4709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Y MULTAS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94360" y="932688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se pierde cuando el historial vive fuera del sistema.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21792" y="2084832"/>
            <a:ext cx="521208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Auditorías, documentación faltante, mantenimiento incompleto e historial fragmentado convierten un filtro olvidado en un riesgo operativo y regulatorio.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76656" y="3127248"/>
            <a:ext cx="5303520" cy="1481328"/>
          </a:xfrm>
          <a:prstGeom prst="roundRect">
            <a:avLst>
              <a:gd name="adj" fmla="val 8025"/>
            </a:avLst>
          </a:prstGeom>
          <a:solidFill>
            <a:srgbClr val="111827"/>
          </a:solidFill>
          <a:ln w="8890">
            <a:solidFill>
              <a:srgbClr val="2632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456432"/>
            <a:ext cx="4736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"Una multa puede costar miles de dólares. Un filtro olvidado puede generar costos mucho mayores que un mantenimiento preventivo."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729984" y="1298448"/>
            <a:ext cx="786384" cy="786384"/>
          </a:xfrm>
          <a:prstGeom prst="ellipse">
            <a:avLst/>
          </a:prstGeom>
          <a:solidFill>
            <a:srgbClr val="10B981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9984" y="155448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01384" y="224028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174736" y="1298448"/>
            <a:ext cx="786384" cy="786384"/>
          </a:xfrm>
          <a:prstGeom prst="ellipse">
            <a:avLst/>
          </a:prstGeom>
          <a:solidFill>
            <a:srgbClr val="1F293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155448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946136" y="224028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9619488" y="1298448"/>
            <a:ext cx="786384" cy="786384"/>
          </a:xfrm>
          <a:prstGeom prst="ellipse">
            <a:avLst/>
          </a:prstGeom>
          <a:solidFill>
            <a:srgbClr val="1F293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19488" y="155448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SHD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9390888" y="224028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729984" y="2834640"/>
            <a:ext cx="786384" cy="786384"/>
          </a:xfrm>
          <a:prstGeom prst="ellipse">
            <a:avLst/>
          </a:prstGeom>
          <a:solidFill>
            <a:srgbClr val="1F293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309067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H2O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501384" y="377647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Agua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174736" y="2834640"/>
            <a:ext cx="786384" cy="786384"/>
          </a:xfrm>
          <a:prstGeom prst="ellipse">
            <a:avLst/>
          </a:prstGeom>
          <a:solidFill>
            <a:srgbClr val="1F293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74736" y="309067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946136" y="377647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Aire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638544" y="4658868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460857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8E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regulatorio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38544" y="4969764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491947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8E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Auditorías con evidencia incompleta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38544" y="5280660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9712" y="523036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8E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de mantenimiento difícil de probar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38544" y="5591556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9712" y="554126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8E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Incumplimiento preventivo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de contexto: CDC Water Management Program; EPA Indoor Air Quality; NAC 446.826; FiltraCore website.</a:t>
            </a:r>
            <a:endParaRPr lang="en-US" sz="590" dirty="0"/>
          </a:p>
        </p:txBody>
      </p:sp>
      <p:sp>
        <p:nvSpPr>
          <p:cNvPr id="35" name="Text 33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75488"/>
            <a:ext cx="1645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4160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NUESTRA SOLUCIÓN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5532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FiltraCore convierte filtros dispersos en una capa operativa auditable.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21792" y="2057400"/>
            <a:ext cx="489204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une monitoreo, alertas, historial, PSI, reportes y evidencia para que mantenimiento actúe antes de que el riesgo sea visible al cliente.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6263640" y="658368"/>
            <a:ext cx="516636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19050" dist="50800" dir="2700000">
              <a:srgbClr val="94A3B8">
                <a:alpha val="13000"/>
              </a:srgbClr>
            </a:outerShdw>
          </a:effectLst>
        </p:spPr>
      </p:sp>
      <p:pic>
        <p:nvPicPr>
          <p:cNvPr id="8" name="Image 0" descr="/Users/davidbastida/Bastida_Systems MKT/pdf startup/StartupNV-FiltraCore-Screenshots/product-assets/print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256416"/>
            <a:ext cx="4800600" cy="24249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331720" y="3054096"/>
            <a:ext cx="1280160" cy="1280160"/>
          </a:xfrm>
          <a:prstGeom prst="ellipse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pic>
        <p:nvPicPr>
          <p:cNvPr id="10" name="Image 1" descr="/Users/davidbastida/Bastida_Systems MKT/pdf startup/StartupNV-FiltraCore-Screenshots/product-assets/LOGO_FILTRACOREX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3364992"/>
            <a:ext cx="658368" cy="658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76656" y="2798064"/>
            <a:ext cx="135331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889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9808" y="295351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Monitoreo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1353312" y="3044952"/>
            <a:ext cx="914400" cy="594360"/>
          </a:xfrm>
          <a:prstGeom prst="line">
            <a:avLst/>
          </a:prstGeom>
          <a:noFill/>
          <a:ln w="8890">
            <a:solidFill>
              <a:srgbClr val="CAD7E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160520" y="2798064"/>
            <a:ext cx="135331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889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233672" y="295351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</a:t>
            </a:r>
            <a:endParaRPr lang="en-US" sz="820" dirty="0"/>
          </a:p>
        </p:txBody>
      </p:sp>
      <p:sp>
        <p:nvSpPr>
          <p:cNvPr id="16" name="Shape 12"/>
          <p:cNvSpPr/>
          <p:nvPr/>
        </p:nvSpPr>
        <p:spPr>
          <a:xfrm>
            <a:off x="4837176" y="3044952"/>
            <a:ext cx="-2569464" cy="594360"/>
          </a:xfrm>
          <a:prstGeom prst="line">
            <a:avLst/>
          </a:prstGeom>
          <a:noFill/>
          <a:ln w="8890">
            <a:solidFill>
              <a:srgbClr val="CAD7E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" y="4325112"/>
            <a:ext cx="135331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889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4400" y="4480560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</a:t>
            </a:r>
            <a:endParaRPr lang="en-US" sz="820" dirty="0"/>
          </a:p>
        </p:txBody>
      </p:sp>
      <p:sp>
        <p:nvSpPr>
          <p:cNvPr id="19" name="Shape 15"/>
          <p:cNvSpPr/>
          <p:nvPr/>
        </p:nvSpPr>
        <p:spPr>
          <a:xfrm>
            <a:off x="1517904" y="4572000"/>
            <a:ext cx="749808" cy="-932688"/>
          </a:xfrm>
          <a:prstGeom prst="line">
            <a:avLst/>
          </a:prstGeom>
          <a:noFill/>
          <a:ln w="8890">
            <a:solidFill>
              <a:srgbClr val="CAD7E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389120" y="4325112"/>
            <a:ext cx="135331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889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62272" y="4480560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PSI</a:t>
            </a:r>
            <a:endParaRPr lang="en-US" sz="820" dirty="0"/>
          </a:p>
        </p:txBody>
      </p:sp>
      <p:sp>
        <p:nvSpPr>
          <p:cNvPr id="22" name="Shape 18"/>
          <p:cNvSpPr/>
          <p:nvPr/>
        </p:nvSpPr>
        <p:spPr>
          <a:xfrm>
            <a:off x="5065776" y="4572000"/>
            <a:ext cx="-2798064" cy="-932688"/>
          </a:xfrm>
          <a:prstGeom prst="line">
            <a:avLst/>
          </a:prstGeom>
          <a:noFill/>
          <a:ln w="8890">
            <a:solidFill>
              <a:srgbClr val="CAD7E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286000" y="5212080"/>
            <a:ext cx="135331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8890">
            <a:solidFill>
              <a:srgbClr val="07111F">
                <a:alpha val="6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359152" y="5367528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</a:t>
            </a:r>
            <a:endParaRPr lang="en-US" sz="820" dirty="0"/>
          </a:p>
        </p:txBody>
      </p:sp>
      <p:sp>
        <p:nvSpPr>
          <p:cNvPr id="25" name="Shape 21"/>
          <p:cNvSpPr/>
          <p:nvPr/>
        </p:nvSpPr>
        <p:spPr>
          <a:xfrm>
            <a:off x="2962656" y="5458968"/>
            <a:ext cx="-694944" cy="-1819656"/>
          </a:xfrm>
          <a:prstGeom prst="line">
            <a:avLst/>
          </a:prstGeom>
          <a:noFill/>
          <a:ln w="8890">
            <a:solidFill>
              <a:srgbClr val="CAD7E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194560" y="1965960"/>
            <a:ext cx="135331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889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267712" y="2121408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20" dirty="0"/>
          </a:p>
        </p:txBody>
      </p:sp>
      <p:sp>
        <p:nvSpPr>
          <p:cNvPr id="28" name="Shape 24"/>
          <p:cNvSpPr/>
          <p:nvPr/>
        </p:nvSpPr>
        <p:spPr>
          <a:xfrm>
            <a:off x="2871216" y="2212848"/>
            <a:ext cx="-603504" cy="1426464"/>
          </a:xfrm>
          <a:prstGeom prst="line">
            <a:avLst/>
          </a:prstGeom>
          <a:noFill/>
          <a:ln w="8890">
            <a:solidFill>
              <a:srgbClr val="CAD7E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263640" y="4709160"/>
            <a:ext cx="516636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409944" y="4805172"/>
            <a:ext cx="4873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object: dashboard real capturado desde bastidasystems.com/filtracore.html.</a:t>
            </a:r>
            <a:endParaRPr lang="en-US" sz="640" dirty="0"/>
          </a:p>
        </p:txBody>
      </p:sp>
      <p:sp>
        <p:nvSpPr>
          <p:cNvPr id="31" name="Text 27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Bastida Systems FiltraCore website; research publico citado en resumen ejecutivo.</a:t>
            </a:r>
            <a:endParaRPr lang="en-US" sz="590" dirty="0"/>
          </a:p>
        </p:txBody>
      </p:sp>
      <p:sp>
        <p:nvSpPr>
          <p:cNvPr id="32" name="Text 28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75488"/>
            <a:ext cx="1645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4160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CAPTURAS DEL SISTEMA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producto ya muestra la rutina completa: dashboard, reportes y flujo móvil.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1993392"/>
            <a:ext cx="4846320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94A3B8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84832"/>
            <a:ext cx="4663440" cy="2578608"/>
          </a:xfrm>
          <a:prstGeom prst="roundRect">
            <a:avLst>
              <a:gd name="adj" fmla="val 2837"/>
            </a:avLst>
          </a:prstGeom>
          <a:solidFill>
            <a:srgbClr val="EEF4F8"/>
          </a:solidFill>
          <a:ln w="6350">
            <a:solidFill>
              <a:srgbClr val="E5EDF3"/>
            </a:solidFill>
            <a:prstDash val="solid"/>
          </a:ln>
        </p:spPr>
      </p:sp>
      <p:pic>
        <p:nvPicPr>
          <p:cNvPr id="8" name="Image 0" descr="/Users/davidbastida/Bastida_Systems MKT/pdf startup/StartupNV-FiltraCore-Screenshots/product-assets/print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214789"/>
            <a:ext cx="4590288" cy="231869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193792" y="2487168"/>
            <a:ext cx="4187952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94A3B8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85232" y="2578608"/>
            <a:ext cx="4005072" cy="2267712"/>
          </a:xfrm>
          <a:prstGeom prst="roundRect">
            <a:avLst>
              <a:gd name="adj" fmla="val 3226"/>
            </a:avLst>
          </a:prstGeom>
          <a:solidFill>
            <a:srgbClr val="EEF4F8"/>
          </a:solidFill>
          <a:ln w="6350">
            <a:solidFill>
              <a:srgbClr val="E5EDF3"/>
            </a:solidFill>
            <a:prstDash val="solid"/>
          </a:ln>
        </p:spPr>
      </p:sp>
      <p:pic>
        <p:nvPicPr>
          <p:cNvPr id="11" name="Image 1" descr="/Users/davidbastida/Bastida_Systems MKT/pdf startup/StartupNV-FiltraCore-Screenshots/product-assets/print-repor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674746"/>
            <a:ext cx="3931920" cy="207543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528048" y="1572768"/>
            <a:ext cx="1024128" cy="2240280"/>
          </a:xfrm>
          <a:prstGeom prst="roundRect">
            <a:avLst>
              <a:gd name="adj" fmla="val 19643"/>
            </a:avLst>
          </a:prstGeom>
          <a:solidFill>
            <a:srgbClr val="0F172A"/>
          </a:solidFill>
          <a:ln w="10160">
            <a:solidFill>
              <a:srgbClr val="0B1220"/>
            </a:solidFill>
            <a:prstDash val="solid"/>
          </a:ln>
          <a:effectLst>
            <a:outerShdw sx="100000" sy="100000" kx="0" ky="0" algn="bl" rotWithShape="0" blurRad="20320" dist="50800" dir="2700000">
              <a:srgbClr val="0F172A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609978" y="1684782"/>
            <a:ext cx="860268" cy="2016252"/>
          </a:xfrm>
          <a:prstGeom prst="roundRect">
            <a:avLst>
              <a:gd name="adj" fmla="val 14881"/>
            </a:avLst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pic>
        <p:nvPicPr>
          <p:cNvPr id="14" name="Image 2" descr="/Users/davidbastida/Bastida_Systems MKT/pdf startup/StartupNV-FiltraCore-Screenshots/product-assets/add-mach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702" y="1824626"/>
            <a:ext cx="798820" cy="173656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0479024" y="2103120"/>
            <a:ext cx="1024128" cy="2240280"/>
          </a:xfrm>
          <a:prstGeom prst="roundRect">
            <a:avLst>
              <a:gd name="adj" fmla="val 19643"/>
            </a:avLst>
          </a:prstGeom>
          <a:solidFill>
            <a:srgbClr val="0F172A"/>
          </a:solidFill>
          <a:ln w="10160">
            <a:solidFill>
              <a:srgbClr val="0B1220"/>
            </a:solidFill>
            <a:prstDash val="solid"/>
          </a:ln>
          <a:effectLst>
            <a:outerShdw sx="100000" sy="100000" kx="0" ky="0" algn="bl" rotWithShape="0" blurRad="20320" dist="50800" dir="2700000">
              <a:srgbClr val="0F172A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0560954" y="2215134"/>
            <a:ext cx="860268" cy="2016252"/>
          </a:xfrm>
          <a:prstGeom prst="roundRect">
            <a:avLst>
              <a:gd name="adj" fmla="val 14881"/>
            </a:avLst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pic>
        <p:nvPicPr>
          <p:cNvPr id="17" name="Image 3" descr="/Users/davidbastida/Bastida_Systems MKT/pdf startup/StartupNV-FiltraCore-Screenshots/product-assets/mobile-filt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678" y="2354978"/>
            <a:ext cx="798820" cy="173656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32688" y="4992624"/>
            <a:ext cx="1517904" cy="292608"/>
          </a:xfrm>
          <a:prstGeom prst="roundRect">
            <a:avLst>
              <a:gd name="adj" fmla="val 25000"/>
            </a:avLst>
          </a:prstGeom>
          <a:solidFill>
            <a:srgbClr val="10B981">
              <a:alpha val="12000"/>
            </a:srgbClr>
          </a:solidFill>
          <a:ln w="889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005840" y="50566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ejecutivo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5468112" y="5175504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2563EB">
              <a:alpha val="12000"/>
            </a:srgbClr>
          </a:solidFill>
          <a:ln w="889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541264" y="523951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9802368" y="455371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59E0B">
              <a:alpha val="12000"/>
            </a:srgbClr>
          </a:solidFill>
          <a:ln w="889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875520" y="461772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workflow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658368" y="5779008"/>
            <a:ext cx="1083564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04672" y="5875020"/>
            <a:ext cx="10543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Screenshots reales descargados y capturados automáticamente del sitio de FiltraCore; carpeta de screenshots incluida.</a:t>
            </a:r>
            <a:endParaRPr lang="en-US" sz="640" dirty="0"/>
          </a:p>
        </p:txBody>
      </p:sp>
      <p:sp>
        <p:nvSpPr>
          <p:cNvPr id="26" name="Text 20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Bastida Systems FiltraCore website; research publico citado en resumen ejecutivo.</a:t>
            </a:r>
            <a:endParaRPr lang="en-US" sz="590" dirty="0"/>
          </a:p>
        </p:txBody>
      </p:sp>
      <p:sp>
        <p:nvSpPr>
          <p:cNvPr id="27" name="Text 21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28" name="Shape 22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75488"/>
            <a:ext cx="1645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4160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FUNCIONA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loop de mantenimiento queda cerrado desde el registro hasta el reporte.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2084832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860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" y="2907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1426464" y="2414016"/>
            <a:ext cx="950976" cy="0"/>
          </a:xfrm>
          <a:prstGeom prst="line">
            <a:avLst/>
          </a:prstGeom>
          <a:noFill/>
          <a:ln w="13970">
            <a:solidFill>
              <a:srgbClr val="B9C8D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05456" y="2084832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22860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94560" y="2907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Monitoreo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273552" y="2414016"/>
            <a:ext cx="950976" cy="0"/>
          </a:xfrm>
          <a:prstGeom prst="line">
            <a:avLst/>
          </a:prstGeom>
          <a:noFill/>
          <a:ln w="13970">
            <a:solidFill>
              <a:srgbClr val="B9C8D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52544" y="2084832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2544" y="22860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41648" y="2907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5120640" y="2414016"/>
            <a:ext cx="950976" cy="0"/>
          </a:xfrm>
          <a:prstGeom prst="line">
            <a:avLst/>
          </a:prstGeom>
          <a:noFill/>
          <a:ln w="13970">
            <a:solidFill>
              <a:srgbClr val="B9C8D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99632" y="2084832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22860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88736" y="2907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Reemplazo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967728" y="2414016"/>
            <a:ext cx="950976" cy="0"/>
          </a:xfrm>
          <a:prstGeom prst="line">
            <a:avLst/>
          </a:prstGeom>
          <a:noFill/>
          <a:ln w="13970">
            <a:solidFill>
              <a:srgbClr val="B9C8D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046720" y="2084832"/>
            <a:ext cx="658368" cy="658368"/>
          </a:xfrm>
          <a:prstGeom prst="ellipse">
            <a:avLst/>
          </a:prstGeom>
          <a:solidFill>
            <a:srgbClr val="0711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22860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35824" y="2907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8814816" y="2414016"/>
            <a:ext cx="950976" cy="0"/>
          </a:xfrm>
          <a:prstGeom prst="line">
            <a:avLst/>
          </a:prstGeom>
          <a:noFill/>
          <a:ln w="13970">
            <a:solidFill>
              <a:srgbClr val="B9C8D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893808" y="2084832"/>
            <a:ext cx="658368" cy="658368"/>
          </a:xfrm>
          <a:prstGeom prst="ellipse">
            <a:avLst/>
          </a:prstGeom>
          <a:solidFill>
            <a:srgbClr val="0711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93808" y="22860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582912" y="2907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1005840" y="3840480"/>
            <a:ext cx="10012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19050" dist="50800" dir="2700000">
              <a:srgbClr val="94A3B8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298448" y="4178808"/>
            <a:ext cx="9400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acción agrega contexto: ubicación, máquina, filtro, lectura PSI, técnico, fecha, notas, inventario y evidencia para auditoría.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915400" y="4443984"/>
            <a:ext cx="658368" cy="1444752"/>
          </a:xfrm>
          <a:prstGeom prst="roundRect">
            <a:avLst>
              <a:gd name="adj" fmla="val 30556"/>
            </a:avLst>
          </a:prstGeom>
          <a:solidFill>
            <a:srgbClr val="0F172A"/>
          </a:solidFill>
          <a:ln w="10160">
            <a:solidFill>
              <a:srgbClr val="0B1220"/>
            </a:solidFill>
            <a:prstDash val="solid"/>
          </a:ln>
          <a:effectLst>
            <a:outerShdw sx="100000" sy="100000" kx="0" ky="0" algn="bl" rotWithShape="0" blurRad="20320" dist="50800" dir="2700000">
              <a:srgbClr val="0F172A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968069" y="4516222"/>
            <a:ext cx="553029" cy="1300277"/>
          </a:xfrm>
          <a:prstGeom prst="roundRect">
            <a:avLst>
              <a:gd name="adj" fmla="val 23148"/>
            </a:avLst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pic>
        <p:nvPicPr>
          <p:cNvPr id="33" name="Image 0" descr="/Users/davidbastida/Bastida_Systems MKT/pdf startup/StartupNV-FiltraCore-Screenshots/product-assets/install-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7820" y="4608178"/>
            <a:ext cx="513527" cy="1116363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9601200" y="4443984"/>
            <a:ext cx="658368" cy="1444752"/>
          </a:xfrm>
          <a:prstGeom prst="roundRect">
            <a:avLst>
              <a:gd name="adj" fmla="val 30556"/>
            </a:avLst>
          </a:prstGeom>
          <a:solidFill>
            <a:srgbClr val="0F172A"/>
          </a:solidFill>
          <a:ln w="10160">
            <a:solidFill>
              <a:srgbClr val="0B1220"/>
            </a:solidFill>
            <a:prstDash val="solid"/>
          </a:ln>
          <a:effectLst>
            <a:outerShdw sx="100000" sy="100000" kx="0" ky="0" algn="bl" rotWithShape="0" blurRad="20320" dist="50800" dir="2700000">
              <a:srgbClr val="0F172A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653869" y="4516222"/>
            <a:ext cx="553029" cy="1300277"/>
          </a:xfrm>
          <a:prstGeom prst="roundRect">
            <a:avLst>
              <a:gd name="adj" fmla="val 23148"/>
            </a:avLst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pic>
        <p:nvPicPr>
          <p:cNvPr id="36" name="Image 1" descr="/Users/davidbastida/Bastida_Systems MKT/pdf startup/StartupNV-FiltraCore-Screenshots/product-assets/log-mainten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3620" y="4608178"/>
            <a:ext cx="513527" cy="1116363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Bastida Systems FiltraCore website; research publico citado en resumen ejecutivo.</a:t>
            </a:r>
            <a:endParaRPr lang="en-US" sz="590" dirty="0"/>
          </a:p>
        </p:txBody>
      </p:sp>
      <p:sp>
        <p:nvSpPr>
          <p:cNvPr id="38" name="Text 34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39" name="Shape 35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75488"/>
            <a:ext cx="1645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4160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MERCADO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wedge inicial vive donde el costo de fallar se ve rápido.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21792" y="1874520"/>
            <a:ext cx="4800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Casinos, hospitales, restaurantes, hoteles y manufactura comparten una necesidad: muchos activos, múltiples turnos y evidencia de mantenimiento difícil de sostener manualmente.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5925312" y="713232"/>
            <a:ext cx="5440680" cy="5376672"/>
          </a:xfrm>
          <a:prstGeom prst="roundRect">
            <a:avLst>
              <a:gd name="adj" fmla="val 2041"/>
            </a:avLst>
          </a:prstGeom>
          <a:solidFill>
            <a:srgbClr val="F7FAFC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36208" y="10241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Casinos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315200" y="10241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Bebidas, hielo, cocinas, back-of-house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9674352" y="987552"/>
            <a:ext cx="1225296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12000"/>
            </a:srgbClr>
          </a:solidFill>
          <a:ln w="889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47504" y="105156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+ uptime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6199632" y="1517904"/>
            <a:ext cx="4736592" cy="0"/>
          </a:xfrm>
          <a:prstGeom prst="line">
            <a:avLst/>
          </a:prstGeom>
          <a:noFill/>
          <a:ln w="8890">
            <a:solidFill>
              <a:srgbClr val="E1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7922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Hospitales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315200" y="17922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Cocinas, hielo, labs, sistemas mecánicos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9674352" y="1755648"/>
            <a:ext cx="1225296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12000"/>
            </a:srgbClr>
          </a:solidFill>
          <a:ln w="889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47504" y="181965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199632" y="2286000"/>
            <a:ext cx="4736592" cy="0"/>
          </a:xfrm>
          <a:prstGeom prst="line">
            <a:avLst/>
          </a:prstGeom>
          <a:noFill/>
          <a:ln w="8890">
            <a:solidFill>
              <a:srgbClr val="E1E8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560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Restaurantes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7315200" y="2560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Café, soda, vapor, lavaplatos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9674352" y="2523744"/>
            <a:ext cx="1225296" cy="256032"/>
          </a:xfrm>
          <a:prstGeom prst="roundRect">
            <a:avLst>
              <a:gd name="adj" fmla="val 28571"/>
            </a:avLst>
          </a:prstGeom>
          <a:solidFill>
            <a:srgbClr val="07111F">
              <a:alpha val="12000"/>
            </a:srgbClr>
          </a:solidFill>
          <a:ln w="8890">
            <a:solidFill>
              <a:srgbClr val="07111F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47504" y="258775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+ sabor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6199632" y="3054096"/>
            <a:ext cx="4736592" cy="0"/>
          </a:xfrm>
          <a:prstGeom prst="line">
            <a:avLst/>
          </a:prstGeom>
          <a:noFill/>
          <a:ln w="8890">
            <a:solidFill>
              <a:srgbClr val="E1E8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33284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Hoteles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7315200" y="33284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Cocinas, lavandería, spas, amenidades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9674352" y="3291840"/>
            <a:ext cx="1225296" cy="256032"/>
          </a:xfrm>
          <a:prstGeom prst="roundRect">
            <a:avLst>
              <a:gd name="adj" fmla="val 28571"/>
            </a:avLst>
          </a:prstGeom>
          <a:solidFill>
            <a:srgbClr val="07111F">
              <a:alpha val="12000"/>
            </a:srgbClr>
          </a:solidFill>
          <a:ln w="8890">
            <a:solidFill>
              <a:srgbClr val="07111F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47504" y="33558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Multiárea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6199632" y="3822192"/>
            <a:ext cx="4736592" cy="0"/>
          </a:xfrm>
          <a:prstGeom prst="line">
            <a:avLst/>
          </a:prstGeom>
          <a:noFill/>
          <a:ln w="8890">
            <a:solidFill>
              <a:srgbClr val="E1E8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40965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Manufactura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7315200" y="4096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Proceso, cooling loops, utilidades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674352" y="4059936"/>
            <a:ext cx="1225296" cy="256032"/>
          </a:xfrm>
          <a:prstGeom prst="roundRect">
            <a:avLst>
              <a:gd name="adj" fmla="val 28571"/>
            </a:avLst>
          </a:prstGeom>
          <a:solidFill>
            <a:srgbClr val="07111F">
              <a:alpha val="12000"/>
            </a:srgbClr>
          </a:solidFill>
          <a:ln w="8890">
            <a:solidFill>
              <a:srgbClr val="07111F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47504" y="412394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Downtime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676656" y="3858768"/>
            <a:ext cx="144475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014216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38.5M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2960" y="435254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visitors Las Vegas 2025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67712" y="3858768"/>
            <a:ext cx="144475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14016" y="4014216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150K+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414016" y="435254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 rooms market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858768" y="3858768"/>
            <a:ext cx="144475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05072" y="4014216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$55.1B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005072" y="435254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visitor spending 2024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76656" y="5212080"/>
            <a:ext cx="462686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308092"/>
            <a:ext cx="4334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Nevada market: operating density + tourism + regulated facilities. LVCVA research context cited.</a:t>
            </a:r>
            <a:endParaRPr lang="en-US" sz="640" dirty="0"/>
          </a:p>
        </p:txBody>
      </p:sp>
      <p:sp>
        <p:nvSpPr>
          <p:cNvPr id="43" name="Text 41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LVCVA research/press materials; U.S. Census QuickFacts Nevada; FiltraCore website.</a:t>
            </a:r>
            <a:endParaRPr lang="en-US" sz="590" dirty="0"/>
          </a:p>
        </p:txBody>
      </p:sp>
      <p:sp>
        <p:nvSpPr>
          <p:cNvPr id="44" name="Text 42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75488"/>
            <a:ext cx="1645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4160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 COMPETITIVA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6492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ventaja no es registrar filtros; es cerrar el ciclo de mantenimiento.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94944" y="1847088"/>
            <a:ext cx="10789920" cy="3913632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482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529584" y="1956816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2066544"/>
            <a:ext cx="1508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129784" y="1956816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9784" y="2066544"/>
            <a:ext cx="1508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729984" y="1956816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9984" y="2066544"/>
            <a:ext cx="1508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330184" y="1956816"/>
            <a:ext cx="187452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2066544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FiltraCore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68096" y="2468880"/>
            <a:ext cx="10625328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5420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preventivas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3529584" y="25328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9784" y="25328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9984" y="25328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30184" y="253288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30540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por activo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3529584" y="30449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9784" y="30449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9984" y="30449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30184" y="30449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8096" y="3493008"/>
            <a:ext cx="10625328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35661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PSI y condición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3529584" y="35570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9784" y="35570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9984" y="35570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30184" y="35570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6112" y="40782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 conectado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3529584" y="4069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9784" y="4069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29984" y="4069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30184" y="40690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68096" y="4517136"/>
            <a:ext cx="10625328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45902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para auditoría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3529584" y="45811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29784" y="45811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29984" y="45811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30184" y="458114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96112" y="51023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Multi-location</a:t>
            </a:r>
            <a:endParaRPr lang="en-US" sz="870" dirty="0"/>
          </a:p>
        </p:txBody>
      </p:sp>
      <p:sp>
        <p:nvSpPr>
          <p:cNvPr id="45" name="Text 43"/>
          <p:cNvSpPr/>
          <p:nvPr/>
        </p:nvSpPr>
        <p:spPr>
          <a:xfrm>
            <a:off x="3529584" y="50932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29784" y="50932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29984" y="50932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330184" y="509320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94944" y="5943600"/>
            <a:ext cx="1078992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" y="6039612"/>
            <a:ext cx="10497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Differentiator: FiltraCore ties asset, condition signal, service event, cost context and report into one operating record.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Bastida Systems FiltraCore website; research publico citado en resumen ejecutivo.</a:t>
            </a:r>
            <a:endParaRPr lang="en-US" sz="590" dirty="0"/>
          </a:p>
        </p:txBody>
      </p:sp>
      <p:sp>
        <p:nvSpPr>
          <p:cNvPr id="52" name="Text 50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75488"/>
            <a:ext cx="1645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4160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NEGOCIO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6035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SaaS mensual con expansión natural de sitio a portafolio.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52120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se vende por complejidad operativa: número de ubicaciones, activos, usuarios, módulos y profundidad de reporting.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713232" y="2816352"/>
            <a:ext cx="3236976" cy="2395728"/>
          </a:xfrm>
          <a:prstGeom prst="roundRect">
            <a:avLst>
              <a:gd name="adj" fmla="val 4962"/>
            </a:avLst>
          </a:prstGeom>
          <a:solidFill>
            <a:srgbClr val="F7FAFC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0723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Business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32688" y="34015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ubicación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969264" y="383590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785616"/>
            <a:ext cx="2404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9264" y="411937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069080"/>
            <a:ext cx="2404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Máquinas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9264" y="440283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352544"/>
            <a:ext cx="2404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9264" y="468630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4636008"/>
            <a:ext cx="2404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básicas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89120" y="2816352"/>
            <a:ext cx="3236976" cy="2395728"/>
          </a:xfrm>
          <a:prstGeom prst="roundRect">
            <a:avLst>
              <a:gd name="adj" fmla="val 4962"/>
            </a:avLst>
          </a:prstGeom>
          <a:solidFill>
            <a:srgbClr val="F0FDF4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30723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Location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608576" y="34015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varias sedes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45152" y="3835908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785616"/>
            <a:ext cx="2404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Multi-site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45152" y="411937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4069080"/>
            <a:ext cx="2404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45152" y="4402836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352544"/>
            <a:ext cx="2404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45152" y="4686300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4636008"/>
            <a:ext cx="2404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Importación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065008" y="2816352"/>
            <a:ext cx="3236976" cy="2395728"/>
          </a:xfrm>
          <a:prstGeom prst="roundRect">
            <a:avLst>
              <a:gd name="adj" fmla="val 4962"/>
            </a:avLst>
          </a:prstGeom>
          <a:solidFill>
            <a:srgbClr val="F7FAFC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84464" y="30723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8284464" y="34015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crítica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8321040" y="383590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22208" y="3785616"/>
            <a:ext cx="2404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321040" y="411937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22208" y="4069080"/>
            <a:ext cx="2404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Integraciones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321040" y="440283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22208" y="4352544"/>
            <a:ext cx="2404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321040" y="468630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22208" y="4636008"/>
            <a:ext cx="2404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Soporte avanzado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537960" y="1024128"/>
            <a:ext cx="4645152" cy="1060704"/>
          </a:xfrm>
          <a:prstGeom prst="roundRect">
            <a:avLst>
              <a:gd name="adj" fmla="val 11207"/>
            </a:avLst>
          </a:prstGeom>
          <a:solidFill>
            <a:srgbClr val="07111F"/>
          </a:solidFill>
          <a:ln w="8890">
            <a:solidFill>
              <a:srgbClr val="0711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125272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bridge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6812280" y="1527048"/>
            <a:ext cx="3977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Licencia mensual + onboarding + importaciones + módulos avanzados</a:t>
            </a:r>
            <a:endParaRPr lang="en-US" sz="1230" dirty="0"/>
          </a:p>
        </p:txBody>
      </p:sp>
      <p:sp>
        <p:nvSpPr>
          <p:cNvPr id="43" name="Shape 41"/>
          <p:cNvSpPr/>
          <p:nvPr/>
        </p:nvSpPr>
        <p:spPr>
          <a:xfrm>
            <a:off x="713232" y="5724144"/>
            <a:ext cx="10497312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" y="5820156"/>
            <a:ext cx="10204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incluyen precios inventados: estructura recomendada para pilotos y expansión SaaS.</a:t>
            </a:r>
            <a:endParaRPr lang="en-US" sz="640" dirty="0"/>
          </a:p>
        </p:txBody>
      </p:sp>
      <p:sp>
        <p:nvSpPr>
          <p:cNvPr id="45" name="Text 43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Bastida Systems FiltraCore website; research publico citado en resumen ejecutivo.</a:t>
            </a:r>
            <a:endParaRPr lang="en-US" sz="590" dirty="0"/>
          </a:p>
        </p:txBody>
      </p:sp>
      <p:sp>
        <p:nvSpPr>
          <p:cNvPr id="46" name="Text 44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75488"/>
            <a:ext cx="1645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4160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ruta lleva de control operacional a mantenimiento predictivo.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914400" y="2907792"/>
            <a:ext cx="10058400" cy="0"/>
          </a:xfrm>
          <a:prstGeom prst="line">
            <a:avLst/>
          </a:prstGeom>
          <a:noFill/>
          <a:ln w="1905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633472"/>
            <a:ext cx="530352" cy="5303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9933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3364992"/>
            <a:ext cx="155448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356616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FiltraCore Web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521208" y="3931920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activos, filtros, inventario, reportes</a:t>
            </a:r>
            <a:endParaRPr lang="en-US" sz="660" dirty="0"/>
          </a:p>
        </p:txBody>
      </p:sp>
      <p:sp>
        <p:nvSpPr>
          <p:cNvPr id="12" name="Shape 10"/>
          <p:cNvSpPr/>
          <p:nvPr/>
        </p:nvSpPr>
        <p:spPr>
          <a:xfrm>
            <a:off x="2697480" y="2633472"/>
            <a:ext cx="530352" cy="5303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19933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21992" y="4498848"/>
            <a:ext cx="155448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47000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FiltraCore Mobile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2377440" y="5065776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de máquina, instalación, PSI, mantenimiento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4553712" y="263347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9933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78224" y="3364992"/>
            <a:ext cx="155448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3672" y="356616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Tracking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233672" y="3931920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Escaneo por activo y evidencia rápida en campo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6409944" y="263347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53912" y="19933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34456" y="4498848"/>
            <a:ext cx="155448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9904" y="47000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Site Management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6089904" y="5065776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Portafolios, sedes, roles y reporting por sitio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266176" y="2633472"/>
            <a:ext cx="530352" cy="530352"/>
          </a:xfrm>
          <a:prstGeom prst="ellipse">
            <a:avLst/>
          </a:prstGeom>
          <a:solidFill>
            <a:srgbClr val="0711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10144" y="19933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790688" y="3364992"/>
            <a:ext cx="155448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46136" y="356616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Sensors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7946136" y="3931920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Lecturas automáticas y señales de presión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10122408" y="2633472"/>
            <a:ext cx="530352" cy="530352"/>
          </a:xfrm>
          <a:prstGeom prst="ellipse">
            <a:avLst/>
          </a:prstGeom>
          <a:solidFill>
            <a:srgbClr val="0711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66376" y="19933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646920" y="4498848"/>
            <a:ext cx="155448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02368" y="47000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Maintenance AI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9802368" y="5065776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Priorización por riesgo y timing de reemplazo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731520" y="5989320"/>
            <a:ext cx="10716768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6085332"/>
            <a:ext cx="10424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recomendado con base en la estructura actual del producto y necesidades del ICP.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Bastida Systems FiltraCore website; research publico citado en resumen ejecutivo.</a:t>
            </a:r>
            <a:endParaRPr lang="en-US" sz="590" dirty="0"/>
          </a:p>
        </p:txBody>
      </p:sp>
      <p:sp>
        <p:nvSpPr>
          <p:cNvPr id="40" name="Text 38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75488"/>
            <a:ext cx="1645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4160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BASTIDA SYSTEMS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enfocado en resolver problemas operativos reales.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49377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Bastida Systems construye productos prácticos para equipos que necesitan pasar de caos operativo a control medible.</a:t>
            </a:r>
            <a:endParaRPr lang="en-US" sz="1280" dirty="0"/>
          </a:p>
        </p:txBody>
      </p:sp>
      <p:pic>
        <p:nvPicPr>
          <p:cNvPr id="7" name="Image 0" descr="/Users/davidbastida/Bastida_Systems MKT/pdf startup/StartupNV-FiltraCore-Screenshots/product-assets/logo_bastida_s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761488"/>
            <a:ext cx="960120" cy="960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93392" y="265176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F7FAFC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67712" y="3035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Operating software studio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053328" y="1115568"/>
            <a:ext cx="4956048" cy="932688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72784" y="1335024"/>
            <a:ext cx="9144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0528" y="13350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FiltraCore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10528" y="161848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management + maintenance evidence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053328" y="2468880"/>
            <a:ext cx="4956048" cy="932688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72784" y="2688336"/>
            <a:ext cx="9144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0528" y="2688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BEOFlow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510528" y="297180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/ banquet operating flow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053328" y="3822192"/>
            <a:ext cx="4956048" cy="932688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72784" y="4041648"/>
            <a:ext cx="91440" cy="438912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0528" y="40416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enterprise tools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10528" y="432511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SaaS for fragmented workflows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86384" y="4343400"/>
            <a:ext cx="448056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94A3B8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77824" y="4434840"/>
            <a:ext cx="4297680" cy="1207008"/>
          </a:xfrm>
          <a:prstGeom prst="roundRect">
            <a:avLst>
              <a:gd name="adj" fmla="val 6061"/>
            </a:avLst>
          </a:prstGeom>
          <a:solidFill>
            <a:srgbClr val="EEF4F8"/>
          </a:solidFill>
          <a:ln w="6350">
            <a:solidFill>
              <a:srgbClr val="E5EDF3"/>
            </a:solidFill>
            <a:prstDash val="solid"/>
          </a:ln>
        </p:spPr>
      </p:sp>
      <p:pic>
        <p:nvPicPr>
          <p:cNvPr id="24" name="Image 1" descr="/Users/davidbastida/Bastida_Systems MKT/pdf startup/StartupNV-FiltraCore-Screenshots/product-assets/print-machin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034" y="4471416"/>
            <a:ext cx="2041260" cy="11338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Bastida Systems website y prompt del fundador.</a:t>
            </a:r>
            <a:endParaRPr lang="en-US" sz="590" dirty="0"/>
          </a:p>
        </p:txBody>
      </p:sp>
      <p:sp>
        <p:nvSpPr>
          <p:cNvPr id="26" name="Text 22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27" name="Shape 23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75488"/>
            <a:ext cx="1645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4160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NEVADA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6126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Vegas es un mercado ideal para probar, demostrar y escalar.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21792" y="1828800"/>
            <a:ext cx="50749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ciudad concentra casinos, hoteles, restaurantes, hospitales, edificios comerciales y operaciones de alta presión donde mantenimiento preventivo se traduce en continuidad de servicio.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6419088" y="859536"/>
            <a:ext cx="4517136" cy="4315968"/>
          </a:xfrm>
          <a:prstGeom prst="roundRect">
            <a:avLst>
              <a:gd name="adj" fmla="val 2966"/>
            </a:avLst>
          </a:prstGeom>
          <a:solidFill>
            <a:srgbClr val="07111F"/>
          </a:solidFill>
          <a:ln w="8890">
            <a:solidFill>
              <a:srgbClr val="0711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84848" y="1335024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111827"/>
          </a:solidFill>
          <a:ln w="8890">
            <a:solidFill>
              <a:srgbClr val="2632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1152" y="1490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38.5M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31152" y="1828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B7C2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visitors Las Vegas 2025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668512" y="1335024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111827"/>
          </a:solidFill>
          <a:ln w="8890">
            <a:solidFill>
              <a:srgbClr val="2632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14816" y="1490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150K+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14816" y="1828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B7C2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 rooms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784848" y="2487168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111827"/>
          </a:solidFill>
          <a:ln w="8890">
            <a:solidFill>
              <a:srgbClr val="2632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26426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80%+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31152" y="29809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B7C2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occupancy context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668512" y="2487168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111827"/>
          </a:solidFill>
          <a:ln w="8890">
            <a:solidFill>
              <a:srgbClr val="2632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14816" y="26426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DE6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$55.1B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14816" y="29809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B7C2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visitor spending 2024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784848" y="3913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wedge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84848" y="41879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Pilotos en facilities de alta densidad crean evidencia que puede viajar a mercados nacionales similares.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76656" y="4183380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133088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 densidad de activos de filtración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" y="4494276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4443984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Turnos y handoffs constantes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" y="480517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4754880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visible para huéspedes y operadores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6656" y="5116068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5065776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Ecosistema de aceleración y clientes piloto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LVCVA research/press context; FiltraCore ICP analysis.</a:t>
            </a:r>
            <a:endParaRPr lang="en-US" sz="590" dirty="0"/>
          </a:p>
        </p:txBody>
      </p:sp>
      <p:sp>
        <p:nvSpPr>
          <p:cNvPr id="31" name="Text 29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75488"/>
            <a:ext cx="1645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4160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BUSCAMOS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5715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StartupNV puede convertir pilotos en evidencia inversionista.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50292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meta no es solo mentoría: es crear una ruta medible desde early pilots hasta clientes de referencia, crecimiento y capital.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7571232" y="1152144"/>
            <a:ext cx="987552" cy="9875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591056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Mentoría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345310" y="2238900"/>
            <a:ext cx="987552" cy="98755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D9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72158" y="267781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piloto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667673" y="3997308"/>
            <a:ext cx="987552" cy="98755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D9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4521" y="443622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Crecimiento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474791" y="3997308"/>
            <a:ext cx="987552" cy="987552"/>
          </a:xfrm>
          <a:prstGeom prst="ellipse">
            <a:avLst/>
          </a:prstGeom>
          <a:solidFill>
            <a:srgbClr val="07111F"/>
          </a:solidFill>
          <a:ln w="12700">
            <a:solidFill>
              <a:srgbClr val="D9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1639" y="443622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Inversionistas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797154" y="2238900"/>
            <a:ext cx="987552" cy="987552"/>
          </a:xfrm>
          <a:prstGeom prst="ellipse">
            <a:avLst/>
          </a:prstGeom>
          <a:solidFill>
            <a:srgbClr val="F1F5F9"/>
          </a:solidFill>
          <a:ln w="12700">
            <a:solidFill>
              <a:srgbClr val="D9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24002" y="267781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Escalamiento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443216" y="2578608"/>
            <a:ext cx="1243584" cy="1243584"/>
          </a:xfrm>
          <a:prstGeom prst="ellipse">
            <a:avLst/>
          </a:prstGeom>
          <a:solidFill>
            <a:srgbClr val="D9FBE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43216" y="30632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StartupNV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944" y="2880360"/>
            <a:ext cx="5157216" cy="2395728"/>
          </a:xfrm>
          <a:prstGeom prst="roundRect">
            <a:avLst>
              <a:gd name="adj" fmla="val 4580"/>
            </a:avLst>
          </a:prstGeom>
          <a:solidFill>
            <a:srgbClr val="F7FAFC"/>
          </a:solidFill>
          <a:ln w="8890">
            <a:solidFill>
              <a:srgbClr val="D9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1821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90-day pilot motion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0120" y="3689604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1288" y="36393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3-5 sedes piloto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960120" y="4000500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61288" y="3950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Mapear activos y filtros existentes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960120" y="4311396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61288" y="42611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alertas, filtros vencidos e historial completo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960120" y="462229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61288" y="4572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resultados en caso de inversión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Bastida Systems FiltraCore website; research publico citado en resumen ejecutivo.</a:t>
            </a:r>
            <a:endParaRPr lang="en-US" sz="590" dirty="0"/>
          </a:p>
        </p:txBody>
      </p:sp>
      <p:sp>
        <p:nvSpPr>
          <p:cNvPr id="30" name="Text 28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554480"/>
            <a:ext cx="5486400" cy="5486400"/>
          </a:xfrm>
          <a:prstGeom prst="ellipse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3" name="Image 0" descr="/Users/davidbastida/Bastida_Systems MKT/pdf startup/StartupNV-FiltraCore-Screenshots/product-assets/LOGO_FILTRACOREX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943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3856" y="7132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FiltraCore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58368" y="1353312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" y="1444752"/>
            <a:ext cx="1645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13853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16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VISIÓN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658368" y="1874520"/>
            <a:ext cx="63093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"Convertir FiltraCore en el estándar de gestión de filtros para casinos, hospitales y empresas de Estados Unidos."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85800" y="3986784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Bastida Systems | Las Vegas, Nevada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685800" y="4370832"/>
            <a:ext cx="4114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bastidasystems@gmail.com  ·  +1 (702) 661-7149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629400" y="1371600"/>
            <a:ext cx="4370832" cy="2596896"/>
          </a:xfrm>
          <a:prstGeom prst="roundRect">
            <a:avLst>
              <a:gd name="adj" fmla="val 3521"/>
            </a:avLst>
          </a:prstGeom>
          <a:solidFill>
            <a:srgbClr val="111827"/>
          </a:solidFill>
          <a:ln w="8890">
            <a:solidFill>
              <a:srgbClr val="263244"/>
            </a:solidFill>
            <a:prstDash val="solid"/>
          </a:ln>
          <a:effectLst>
            <a:outerShdw sx="100000" sy="100000" kx="0" ky="0" algn="bl" rotWithShape="0" blurRad="19050" dist="50800" dir="2700000">
              <a:srgbClr val="94A3B8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20840" y="1463040"/>
            <a:ext cx="4187952" cy="2414016"/>
          </a:xfrm>
          <a:prstGeom prst="roundRect">
            <a:avLst>
              <a:gd name="adj" fmla="val 3030"/>
            </a:avLst>
          </a:prstGeom>
          <a:solidFill>
            <a:srgbClr val="EEF4F8"/>
          </a:solidFill>
          <a:ln w="6350">
            <a:solidFill>
              <a:srgbClr val="E5EDF3"/>
            </a:solidFill>
            <a:prstDash val="solid"/>
          </a:ln>
        </p:spPr>
      </p:sp>
      <p:pic>
        <p:nvPicPr>
          <p:cNvPr id="13" name="Image 1" descr="/Users/davidbastida/Bastida_Systems MKT/pdf startup/StartupNV-FiltraCore-Screenshots/product-assets/print-repor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1584064"/>
            <a:ext cx="4114800" cy="217196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948672" y="2944368"/>
            <a:ext cx="987552" cy="1901952"/>
          </a:xfrm>
          <a:prstGeom prst="roundRect">
            <a:avLst>
              <a:gd name="adj" fmla="val 20370"/>
            </a:avLst>
          </a:prstGeom>
          <a:solidFill>
            <a:srgbClr val="0F172A"/>
          </a:solidFill>
          <a:ln w="10160">
            <a:solidFill>
              <a:srgbClr val="0B1220"/>
            </a:solidFill>
            <a:prstDash val="solid"/>
          </a:ln>
          <a:effectLst>
            <a:outerShdw sx="100000" sy="100000" kx="0" ky="0" algn="bl" rotWithShape="0" blurRad="20320" dist="50800" dir="2700000">
              <a:srgbClr val="0F172A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27676" y="3039466"/>
            <a:ext cx="829544" cy="1711757"/>
          </a:xfrm>
          <a:prstGeom prst="roundRect">
            <a:avLst>
              <a:gd name="adj" fmla="val 15432"/>
            </a:avLst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pic>
        <p:nvPicPr>
          <p:cNvPr id="16" name="Image 2" descr="/Users/davidbastida/Bastida_Systems MKT/pdf startup/StartupNV-FiltraCore-Screenshots/product-assets/filtracor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303" y="3151100"/>
            <a:ext cx="770291" cy="1488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4360" y="652881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Bastida Systems FiltraCore website; contacto publicado en footer del sitio.</a:t>
            </a:r>
            <a:endParaRPr lang="en-US" sz="590" dirty="0"/>
          </a:p>
        </p:txBody>
      </p:sp>
      <p:sp>
        <p:nvSpPr>
          <p:cNvPr id="18" name="Text 13"/>
          <p:cNvSpPr/>
          <p:nvPr/>
        </p:nvSpPr>
        <p:spPr>
          <a:xfrm>
            <a:off x="11201400" y="64556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11686032" y="657453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Bastida Systems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StartupNV FiltraCore Pitch Deck</dc:title>
  <dc:subject>StartupNV FiltraCore Pitch Deck</dc:subject>
  <dc:creator>Bastida Systems</dc:creator>
  <cp:lastModifiedBy>Bastida Systems</cp:lastModifiedBy>
  <cp:revision>1</cp:revision>
  <dcterms:created xsi:type="dcterms:W3CDTF">2026-06-01T06:39:29Z</dcterms:created>
  <dcterms:modified xsi:type="dcterms:W3CDTF">2026-06-01T06:39:29Z</dcterms:modified>
</cp:coreProperties>
</file>